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82828"/>
                </a:solidFill>
                <a:latin typeface="Times New Roman"/>
              </a:defRPr>
            </a:pPr>
            <a:r>
              <a:t>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Introduction to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What is Agentic AI? 🤖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An advanced paradigm where AI systems operate autonomously to achieve goals.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They perceive environments, plan actions, and execute tasks without constant human oversight.</a:t>
            </a:r>
          </a:p>
          <a:p>
            <a:pPr algn="just">
              <a:defRPr sz="2200" b="1">
                <a:latin typeface="Times New Roman"/>
              </a:defRPr>
            </a:pPr>
            <a:r>
              <a:t>Key Distinguishing Feature ➤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Focuses on goal-oriented behavior and sequential decision-making processes.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Integrates reasoning, memory, and tool usage to adapt and learn dynamically.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Importance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Enhanced Automation ⚙️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Enables complex, multi-step tasks to be automated end-to-end efficiently.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Reduces human intervention, boosting overall efficiency and productivity.</a:t>
            </a:r>
          </a:p>
          <a:p>
            <a:pPr algn="just">
              <a:defRPr sz="2200" b="1">
                <a:latin typeface="Times New Roman"/>
              </a:defRPr>
            </a:pPr>
            <a:r>
              <a:t>Problem-Solving Capabilities 💡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Can tackle dynamic and unpredictable challenges by planning and adapting.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Moves beyond simple pattern recognition to intelligent, adaptive execution.</a:t>
            </a:r>
          </a:p>
          <a:p>
            <a:pPr algn="just">
              <a:defRPr sz="2200" b="1">
                <a:latin typeface="Times New Roman"/>
              </a:defRPr>
            </a:pPr>
            <a:r>
              <a:t>Driving Innovation ✔️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Opens new possibilities for advanced AI applications across various industries.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Generative AI vs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Generative AI (e.g., ChatGPT, DALL-E) 🎨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Focuses on creating new content, such as text, images, or code from prompts.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Primarily reactive, responding to prompts with generated outputs.</a:t>
            </a:r>
          </a:p>
          <a:p>
            <a:pPr algn="just">
              <a:defRPr sz="2200" b="1">
                <a:latin typeface="Times New Roman"/>
              </a:defRPr>
            </a:pPr>
            <a:r>
              <a:t>Agentic AI (e.g., AutoGPT, BabyAGI) 🧭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Focuses on achieving specific goals through a series of planned actions.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Proactive and autonomous, with internal states and iterative refinement loops.</a:t>
            </a:r>
          </a:p>
          <a:p>
            <a:pPr algn="just">
              <a:defRPr sz="2200" b="1">
                <a:latin typeface="Times New Roman"/>
              </a:defRPr>
            </a:pPr>
            <a:r>
              <a:t>Key Difference ➤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Generative AI *produces* outputs, while Agentic AI *acts* to reach an objective.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Data Science with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Automated Data Workflows 📊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Agents can manage data collection, cleaning, and preprocessing independently.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Streamlines repetitive tasks, freeing data scientists for complex analysis.</a:t>
            </a:r>
          </a:p>
          <a:p>
            <a:pPr algn="just">
              <a:defRPr sz="2200" b="1">
                <a:latin typeface="Times New Roman"/>
              </a:defRPr>
            </a:pPr>
            <a:r>
              <a:t>Intelligent Model Development 📈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Agents can explore models, tune hyperparameters, and evaluate performance efficiently.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Accelerates the experimental phase and optimizes model selection processes.</a:t>
            </a:r>
          </a:p>
          <a:p>
            <a:pPr algn="just">
              <a:defRPr sz="2200" b="1">
                <a:latin typeface="Times New Roman"/>
              </a:defRPr>
            </a:pPr>
            <a:r>
              <a:t>Dynamic Insights Generation 🔍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Continuously monitors data streams to identify trends and anomalies automatically.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How Agentic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Perception 👁️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Gathers information from its environment using sensors or data feeds.</a:t>
            </a:r>
          </a:p>
          <a:p>
            <a:pPr algn="just">
              <a:defRPr sz="2200" b="1">
                <a:latin typeface="Times New Roman"/>
              </a:defRPr>
            </a:pPr>
            <a:r>
              <a:t>Planning &amp; Reasoning 🤔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Sets goals, breaks them into sub-tasks, and strategizes execution paths.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Utilizes memory and knowledge bases to inform intelligent decision-making.</a:t>
            </a:r>
          </a:p>
          <a:p>
            <a:pPr algn="just">
              <a:defRPr sz="2200" b="1">
                <a:latin typeface="Times New Roman"/>
              </a:defRPr>
            </a:pPr>
            <a:r>
              <a:t>Action Execution ▶️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Carries out planned steps using available tools or internal capabilities.</a:t>
            </a:r>
          </a:p>
          <a:p>
            <a:pPr algn="just">
              <a:defRPr sz="2200" b="1">
                <a:latin typeface="Times New Roman"/>
              </a:defRPr>
            </a:pPr>
            <a:r>
              <a:t>Feedback &amp; Learning 🔄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Evaluates the outcome of actions and adjusts future plans accordingly.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Improves performance over time through iterative refinement.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Key Components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Large Language Models (LLMs) 🧠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Provide the core reasoning and generation capabilities for effective planning.</a:t>
            </a:r>
          </a:p>
          <a:p>
            <a:pPr algn="just">
              <a:defRPr sz="2200" b="1">
                <a:latin typeface="Times New Roman"/>
              </a:defRPr>
            </a:pPr>
            <a:r>
              <a:t>Memory Module 📚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Stores short-term context (scratchpad) and long-term knowledge (vector databases).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Enables agents to recall past experiences and learn from interactions.</a:t>
            </a:r>
          </a:p>
          <a:p>
            <a:pPr algn="just">
              <a:defRPr sz="2200" b="1">
                <a:latin typeface="Times New Roman"/>
              </a:defRPr>
            </a:pPr>
            <a:r>
              <a:t>Tool Usage 🛠️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Allows agents to interact with external systems, APIs, and various software.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Extends capabilities beyond text generation to real-world actions.</a:t>
            </a:r>
          </a:p>
          <a:p>
            <a:pPr algn="just">
              <a:defRPr sz="2200" b="1">
                <a:latin typeface="Times New Roman"/>
              </a:defRPr>
            </a:pPr>
            <a:r>
              <a:t>Planning &amp; Reflection Mechanisms 📝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Enables goal decomposition, strategy formulation, and autonomous self-correction.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Applications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Automated Research Assistants 🔬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Conduct literature reviews, synthesize findings, and generate reports effectively.</a:t>
            </a:r>
          </a:p>
          <a:p>
            <a:pPr algn="just">
              <a:defRPr sz="2200" b="1">
                <a:latin typeface="Times New Roman"/>
              </a:defRPr>
            </a:pPr>
            <a:r>
              <a:t>Customer Service Bots 📞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Handle complex queries, troubleshoot issues, and escalate when necessary.</a:t>
            </a:r>
          </a:p>
          <a:p>
            <a:pPr algn="just">
              <a:defRPr sz="2200" b="1">
                <a:latin typeface="Times New Roman"/>
              </a:defRPr>
            </a:pPr>
            <a:r>
              <a:t>Software Development 💻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Write code, debug, test, and even deploy simple applications autonomously.</a:t>
            </a:r>
          </a:p>
          <a:p>
            <a:pPr algn="just">
              <a:defRPr sz="2200" b="1">
                <a:latin typeface="Times New Roman"/>
              </a:defRPr>
            </a:pPr>
            <a:r>
              <a:t>Personalized Education 🧑‍🏫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Create adaptive learning paths and provide tailored feedback to students.</a:t>
            </a:r>
          </a:p>
          <a:p>
            <a:pPr algn="just">
              <a:defRPr sz="2200" b="1">
                <a:latin typeface="Times New Roman"/>
              </a:defRPr>
            </a:pPr>
            <a:r>
              <a:t>Financial Trading 💰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Execute trades based on real-time market analysis and predefined strategies.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Benefits &amp; Limitations of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Benefits ✔️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Increased efficiency and productivity across diverse domains.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Enhanced problem-solving for dynamic and complex scenarios.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Enables innovation by automating routine tasks and exploring new solutions.</a:t>
            </a:r>
          </a:p>
          <a:p>
            <a:pPr algn="just">
              <a:defRPr sz="2200" b="1">
                <a:latin typeface="Times New Roman"/>
              </a:defRPr>
            </a:pPr>
            <a:r>
              <a:t>Limitations ⚠️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Potential for unforeseen actions or unintended consequences (e.g., hallucinations).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Requires robust safety measures and continuous monitoring for reliability.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Ethical concerns regarding accountability and autonomous decision-making.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Agentic AI in 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Supply Chain Optimization 📦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Agents predict demand, manage inventory, and optimize logistics routes.</a:t>
            </a:r>
          </a:p>
          <a:p>
            <a:pPr algn="just">
              <a:defRPr sz="2200" b="1">
                <a:latin typeface="Times New Roman"/>
              </a:defRPr>
            </a:pPr>
            <a:r>
              <a:t>Healthcare Diagnostics 🩺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Assist doctors in analyzing patient data and suggesting personalized treatment plans.</a:t>
            </a:r>
          </a:p>
          <a:p>
            <a:pPr algn="just">
              <a:defRPr sz="2200" b="1">
                <a:latin typeface="Times New Roman"/>
              </a:defRPr>
            </a:pPr>
            <a:r>
              <a:t>Environmental Monitoring 🌍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Autonomous drones with agents can monitor conditions and report anomalies.</a:t>
            </a:r>
          </a:p>
          <a:p>
            <a:pPr algn="just">
              <a:defRPr sz="2200" b="1">
                <a:latin typeface="Times New Roman"/>
              </a:defRPr>
            </a:pPr>
            <a:r>
              <a:t>Personal Digital Assistants 📱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Sophisticated assistants that proactively manage schedules and tasks.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000">
                <a:solidFill>
                  <a:srgbClr val="003399"/>
                </a:solidFill>
                <a:latin typeface="Times New Roman"/>
              </a:rPr>
              <a:t>Future of Agentic AI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463040"/>
            <a:ext cx="7863840" cy="5029200"/>
          </a:xfrm>
        </p:spPr>
        <p:txBody>
          <a:bodyPr/>
          <a:lstStyle/>
          <a:p/>
          <a:p>
            <a:pPr algn="just">
              <a:defRPr sz="2200" b="1">
                <a:latin typeface="Times New Roman"/>
              </a:defRPr>
            </a:pPr>
            <a:r>
              <a:t>Future Trajectory 🚀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Expect more sophisticated planning, learning, and human-agent collaboration.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Integration into daily life, from smart homes to advanced industrial systems.</a:t>
            </a:r>
          </a:p>
          <a:p>
            <a:pPr algn="just">
              <a:defRPr sz="2200" b="1">
                <a:latin typeface="Times New Roman"/>
              </a:defRPr>
            </a:pPr>
            <a:r>
              <a:t>Ethical Considerations ⚖️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Need for clear guidelines on autonomy, transparency, and effective control mechanisms.</a:t>
            </a:r>
          </a:p>
          <a:p>
            <a:pPr algn="just">
              <a:defRPr sz="2200" b="1">
                <a:latin typeface="Times New Roman"/>
              </a:defRPr>
            </a:pPr>
            <a:r>
              <a:t>Conclusion 🎉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Agentic AI represents a significant leap towards truly intelligent systems.</a:t>
            </a:r>
          </a:p>
          <a:p>
            <a:pPr lvl="1" algn="just">
              <a:defRPr sz="1800">
                <a:solidFill>
                  <a:srgbClr val="000000"/>
                </a:solidFill>
                <a:latin typeface="Times New Roman"/>
              </a:defRPr>
            </a:pPr>
            <a:r>
              <a:t>It promises to transform how we interact with technology and solve complex problems.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>
                <a:solidFill>
                  <a:srgbClr val="282828"/>
                </a:solidFill>
                <a:latin typeface="Times New Roman"/>
              </a:defRPr>
            </a:pPr>
            <a:r>
              <a:t>Thank You!</a:t>
            </a:r>
            <a:br/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